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2" r:id="rId8"/>
    <p:sldId id="260" r:id="rId9"/>
    <p:sldId id="265" r:id="rId10"/>
    <p:sldId id="261" r:id="rId11"/>
    <p:sldId id="266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AF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04DAF5-3ACB-BB36-08FD-B1285CC7F7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006DE66-6FD1-6728-16FA-DDC7EB97DD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F2061D-A985-CB1F-C272-9590AB9F2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A2EA3-6204-4CA9-A42F-91F13EA364D1}" type="datetimeFigureOut">
              <a:rPr lang="fr-SN" smtClean="0"/>
              <a:t>23 juin 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CC952A-4393-AA14-23FB-AEF216A4D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F2EF2C-89D6-C2CE-62A6-898C3A8F7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87100-07F7-467D-A496-E6944893C63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02824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3E87B3-F09E-2DC8-C831-71B990D25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9337DD-2CC0-7B48-EFFC-8BA7E7A6F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E093E6-69D4-5A45-1362-C64CB6881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A2EA3-6204-4CA9-A42F-91F13EA364D1}" type="datetimeFigureOut">
              <a:rPr lang="fr-SN" smtClean="0"/>
              <a:t>23 juin 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6652B4-85A9-718D-6F9B-4127BA22B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5977D5-C160-C783-BE1D-2A20AE57C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87100-07F7-467D-A496-E6944893C63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082592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DD6618-7DB1-D09F-022B-0BB126EF7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CFF933E-C9FD-7FBF-5719-0E3E08F47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43A38A-88C9-61C1-01EE-B071612C1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A2EA3-6204-4CA9-A42F-91F13EA364D1}" type="datetimeFigureOut">
              <a:rPr lang="fr-SN" smtClean="0"/>
              <a:t>23 juin 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006B3E-559C-6CF0-351F-DF0F6C1D4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40AB48-FB16-A17C-7C16-B482E418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87100-07F7-467D-A496-E6944893C63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327182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334C10-8610-2063-36EF-560D6A6AE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E1555B-2CDB-5400-0155-82898D08E8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1E77E6E-DAD8-5570-8B55-0EC549FFA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FAB8BD7-5E0F-E19D-A828-455A65B34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A2EA3-6204-4CA9-A42F-91F13EA364D1}" type="datetimeFigureOut">
              <a:rPr lang="fr-SN" smtClean="0"/>
              <a:t>23 juin 2026</a:t>
            </a:fld>
            <a:endParaRPr lang="fr-S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0F2075-DCAA-9BF9-8B48-5CC8CACFB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B3BB1E4-F752-B578-035D-EC2C03281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87100-07F7-467D-A496-E6944893C63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108504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EEDD11-E11A-E1EF-89E6-2A2AF57D8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6268810-78D8-C897-62C7-F99257DF4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EF5EC77-1A16-FC79-2171-AF26A3DB9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3C5B323-0B6C-A7D9-384D-8CC5B0CAC9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8DE10EA-CFFD-255E-A1CC-4017235BFF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D02F65F-FBC1-1C1C-FBCE-CC27DC185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A2EA3-6204-4CA9-A42F-91F13EA364D1}" type="datetimeFigureOut">
              <a:rPr lang="fr-SN" smtClean="0"/>
              <a:t>23 juin 2026</a:t>
            </a:fld>
            <a:endParaRPr lang="fr-SN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A1541C2-D79F-0BD6-2E35-77A798CBA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D235D66-FE58-E08F-4ECB-C99AD2AE8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87100-07F7-467D-A496-E6944893C63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265251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02A2E6-5FBE-0BC2-44BD-2555FFA68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84384EA-4BBC-411C-E152-F9B3835F6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A2EA3-6204-4CA9-A42F-91F13EA364D1}" type="datetimeFigureOut">
              <a:rPr lang="fr-SN" smtClean="0"/>
              <a:t>23 juin 2026</a:t>
            </a:fld>
            <a:endParaRPr lang="fr-SN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6D38021-2EEE-5E02-A8AA-B07953021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3E8CA9A-596C-1458-1F4F-8EEEDFD85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87100-07F7-467D-A496-E6944893C63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19020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12390EE-165B-0F0D-E978-F5E91B6FB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A2EA3-6204-4CA9-A42F-91F13EA364D1}" type="datetimeFigureOut">
              <a:rPr lang="fr-SN" smtClean="0"/>
              <a:t>23 juin 2026</a:t>
            </a:fld>
            <a:endParaRPr lang="fr-SN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D144D6D-C6D4-C436-83CF-0B852E8C9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D5EE77-3D8D-7665-562A-7495AC4F5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87100-07F7-467D-A496-E6944893C63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633876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020B7-8D96-E1CE-2941-2DE6DD51F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901D07-F2F6-BCEC-8644-3A9946EB6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1DC04AA-D432-E1F5-ED18-5E94D9604C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3FEDE54-7D70-BA0C-785A-47A659572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A2EA3-6204-4CA9-A42F-91F13EA364D1}" type="datetimeFigureOut">
              <a:rPr lang="fr-SN" smtClean="0"/>
              <a:t>23 juin 2026</a:t>
            </a:fld>
            <a:endParaRPr lang="fr-S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9113485-C819-1A53-CE50-12C8AF073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425745-4CD1-9E13-5CFA-356B29110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87100-07F7-467D-A496-E6944893C63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47490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6ABDEF-74D5-0443-DDC5-CA305070F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5E2F379-09BB-313B-3440-FE35A2E6F9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SN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0205D9-1900-E254-914B-94831A193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1E179DC-7ACD-9B42-8517-AD15DA712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A2EA3-6204-4CA9-A42F-91F13EA364D1}" type="datetimeFigureOut">
              <a:rPr lang="fr-SN" smtClean="0"/>
              <a:t>23 juin 2026</a:t>
            </a:fld>
            <a:endParaRPr lang="fr-S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9842F79-F9AD-7E27-2319-74BD4B55B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01594DE-253B-5883-8435-DA87CF98F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87100-07F7-467D-A496-E6944893C63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4033794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60AE73-4A98-C0CF-BFB0-6C273904B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A5F7611-3097-48E5-A95C-E4A4EEA0D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F7E9FB-571F-8AA3-9AB6-ABE9F5736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A2EA3-6204-4CA9-A42F-91F13EA364D1}" type="datetimeFigureOut">
              <a:rPr lang="fr-SN" smtClean="0"/>
              <a:t>23 juin 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CCEE5C-DA8D-CE4D-BE89-00E1231F6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56479E-D7E9-0F0E-491B-8033A020E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87100-07F7-467D-A496-E6944893C63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121457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42A1ACE-6895-A1B6-07BC-7375F6D99E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239CEAB-678B-9448-1571-3267051D7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02D5BE-35D2-938D-B15A-1784D8943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A2EA3-6204-4CA9-A42F-91F13EA364D1}" type="datetimeFigureOut">
              <a:rPr lang="fr-SN" smtClean="0"/>
              <a:t>23 juin 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044CD1-186F-A579-043D-A36FE8422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A53452-F867-3900-D8E5-42AC310EB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87100-07F7-467D-A496-E6944893C63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461613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2FFEBD4-672A-D62B-3573-96D59581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CD6FF4-8E0E-3ED9-3343-83F3989D3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729281-F97D-5139-88B4-6178CD5895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6A2EA3-6204-4CA9-A42F-91F13EA364D1}" type="datetimeFigureOut">
              <a:rPr lang="fr-SN" smtClean="0"/>
              <a:t>23 juin 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3A7A18-3B46-18CA-45A4-93415187BF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B75728-4BCB-856A-3C48-5EC76D255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887100-07F7-467D-A496-E6944893C63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949448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F9EA1C-04D9-428E-B55A-C36B273A6F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49505"/>
          </a:xfrm>
        </p:spPr>
        <p:txBody>
          <a:bodyPr>
            <a:normAutofit/>
          </a:bodyPr>
          <a:lstStyle/>
          <a:p>
            <a:r>
              <a:rPr lang="fr-SN" sz="4800" b="1" dirty="0">
                <a:solidFill>
                  <a:srgbClr val="D4AF37"/>
                </a:solidFill>
              </a:rPr>
              <a:t>Projet de Fin d'Année — </a:t>
            </a:r>
            <a:r>
              <a:rPr lang="fr-SN" sz="4800" b="1" dirty="0" err="1">
                <a:solidFill>
                  <a:srgbClr val="D4AF37"/>
                </a:solidFill>
              </a:rPr>
              <a:t>AfriTalent</a:t>
            </a:r>
            <a:endParaRPr lang="fr-SN" sz="4800" b="1" dirty="0">
              <a:solidFill>
                <a:srgbClr val="D4AF37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E140CA0-B004-04DA-7296-156AEAD8FC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Autofit/>
          </a:bodyPr>
          <a:lstStyle/>
          <a:p>
            <a:r>
              <a:rPr lang="fr-SN" sz="3200" dirty="0"/>
              <a:t>Plateforme de mise en relation pour freelances africains</a:t>
            </a:r>
          </a:p>
          <a:p>
            <a:endParaRPr lang="fr-SN" sz="3200" dirty="0"/>
          </a:p>
          <a:p>
            <a:r>
              <a:rPr lang="fr-SN" sz="3600" b="1" dirty="0">
                <a:latin typeface="Georgia Pro Semibold" panose="020F0502020204030204" pitchFamily="18" charset="0"/>
              </a:rPr>
              <a:t>Na </a:t>
            </a:r>
            <a:r>
              <a:rPr lang="fr-SN" sz="3600" b="1" dirty="0" err="1">
                <a:latin typeface="Georgia Pro Semibold" panose="020F0502020204030204" pitchFamily="18" charset="0"/>
              </a:rPr>
              <a:t>ibrahima</a:t>
            </a:r>
            <a:r>
              <a:rPr lang="fr-SN" sz="3600" b="1" dirty="0">
                <a:latin typeface="Georgia Pro Semibold" panose="020F0502020204030204" pitchFamily="18" charset="0"/>
              </a:rPr>
              <a:t> </a:t>
            </a:r>
            <a:r>
              <a:rPr lang="fr-SN" sz="3600" b="1" dirty="0" err="1">
                <a:latin typeface="Georgia Pro Semibold" panose="020F0502020204030204" pitchFamily="18" charset="0"/>
              </a:rPr>
              <a:t>vele</a:t>
            </a:r>
            <a:endParaRPr lang="fr-SN" sz="3600" b="1" dirty="0">
              <a:latin typeface="Georgia Pro Semibold" panose="020F0502020204030204" pitchFamily="18" charset="0"/>
            </a:endParaRPr>
          </a:p>
          <a:p>
            <a:r>
              <a:rPr lang="fr-SN" sz="3200" b="1" u="sng" dirty="0">
                <a:solidFill>
                  <a:schemeClr val="accent1">
                    <a:lumMod val="50000"/>
                  </a:schemeClr>
                </a:solidFill>
              </a:rPr>
              <a:t>L1 Informatique Appliquée à la Gestion (L1 IAGE) | Année : 2026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CACF6F3-60D5-14B5-5170-2BFF12DBE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3663769"/>
            <a:ext cx="1041400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7501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424">
        <p159:morph option="byObject"/>
      </p:transition>
    </mc:Choice>
    <mc:Fallback>
      <p:transition spd="slow" advTm="424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B01E16-AB51-74D9-52CE-5AC09C06E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SN" b="1" dirty="0">
                <a:solidFill>
                  <a:srgbClr val="D4AF37"/>
                </a:solidFill>
              </a:rPr>
              <a:t>           Présentation &amp; Contexte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422208-A659-5728-B520-59E8BE9AF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fr-SN" b="1" dirty="0">
                <a:cs typeface="Times New Roman" panose="02020603050405020304" pitchFamily="18" charset="0"/>
              </a:rPr>
              <a:t>                                                   </a:t>
            </a:r>
            <a:r>
              <a:rPr lang="fr-SN" dirty="0">
                <a:solidFill>
                  <a:srgbClr val="FF0000"/>
                </a:solidFill>
              </a:rPr>
              <a:t>Contexte &amp; Objectifs</a:t>
            </a:r>
            <a:endParaRPr lang="fr-SN" b="1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r>
              <a:rPr lang="fr-SN" b="1" dirty="0">
                <a:cs typeface="Times New Roman" panose="02020603050405020304" pitchFamily="18" charset="0"/>
              </a:rPr>
              <a:t>Concept</a:t>
            </a:r>
            <a:r>
              <a:rPr lang="fr-SN" dirty="0">
                <a:cs typeface="Times New Roman" panose="02020603050405020304" pitchFamily="18" charset="0"/>
              </a:rPr>
              <a:t> :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Une vitrine web moderne mettant en avant l'expertise du </a:t>
            </a:r>
            <a:r>
              <a:rPr lang="fr-S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freelancing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numérique en Afrique.</a:t>
            </a:r>
          </a:p>
          <a:p>
            <a:r>
              <a:rPr lang="fr-SN" b="1" dirty="0">
                <a:cs typeface="Times New Roman" panose="02020603050405020304" pitchFamily="18" charset="0"/>
              </a:rPr>
              <a:t>Objectif</a:t>
            </a:r>
            <a:r>
              <a:rPr lang="fr-SN" dirty="0">
                <a:cs typeface="Times New Roman" panose="02020603050405020304" pitchFamily="18" charset="0"/>
              </a:rPr>
              <a:t> :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Connecter rapidement les talents locaux avec les entreprises du monde entier.</a:t>
            </a:r>
          </a:p>
          <a:p>
            <a:r>
              <a:rPr lang="fr-SN" b="1" dirty="0">
                <a:cs typeface="Times New Roman" panose="02020603050405020304" pitchFamily="18" charset="0"/>
              </a:rPr>
              <a:t>Expérience utilisateur</a:t>
            </a:r>
            <a:r>
              <a:rPr lang="fr-SN" dirty="0">
                <a:cs typeface="Times New Roman" panose="02020603050405020304" pitchFamily="18" charset="0"/>
              </a:rPr>
              <a:t> :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Une interface rapide, épurée et totalement adaptative (</a:t>
            </a:r>
            <a:r>
              <a:rPr lang="fr-S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fr-S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25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3307">
        <p14:flip dir="r"/>
      </p:transition>
    </mc:Choice>
    <mc:Fallback>
      <p:transition spd="slow" advTm="330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4291D8-6A79-1D29-332C-C6BED250A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fr-SN" sz="4000" b="1" dirty="0">
                <a:solidFill>
                  <a:srgbClr val="D4AF37"/>
                </a:solidFill>
              </a:rPr>
              <a:t>	Écosystème Technique (Les Technologies)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C19BB0-409F-CE89-65B5-2875BCDE5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SN" b="1" dirty="0">
                <a:solidFill>
                  <a:srgbClr val="FF0000"/>
                </a:solidFill>
                <a:cs typeface="Times New Roman" panose="02020603050405020304" pitchFamily="18" charset="0"/>
              </a:rPr>
              <a:t>                                    </a:t>
            </a:r>
            <a:r>
              <a:rPr lang="fr-SN" dirty="0">
                <a:solidFill>
                  <a:srgbClr val="FF0000"/>
                </a:solidFill>
              </a:rPr>
              <a:t>Architecture &amp; Technologies Web</a:t>
            </a:r>
            <a:endParaRPr lang="fr-SN" b="1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r>
              <a:rPr lang="fr-SN" b="1" dirty="0">
                <a:cs typeface="Times New Roman" panose="02020603050405020304" pitchFamily="18" charset="0"/>
              </a:rPr>
              <a:t>HTML5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Structuration sémantique complète et accessible de chaque page.</a:t>
            </a:r>
          </a:p>
          <a:p>
            <a:r>
              <a:rPr lang="fr-SN" b="1" dirty="0">
                <a:cs typeface="Times New Roman" panose="02020603050405020304" pitchFamily="18" charset="0"/>
              </a:rPr>
              <a:t>CSS3 &amp; Bootstrap 5</a:t>
            </a:r>
            <a:r>
              <a:rPr lang="fr-SN" dirty="0">
                <a:cs typeface="Times New Roman" panose="02020603050405020304" pitchFamily="18" charset="0"/>
              </a:rPr>
              <a:t> :</a:t>
            </a:r>
          </a:p>
          <a:p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Création d'un </a:t>
            </a:r>
            <a:r>
              <a:rPr lang="fr-S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System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unifié (variables de couleurs et de typographies).</a:t>
            </a:r>
          </a:p>
          <a:p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Mise en page moderne grâce au système de grille </a:t>
            </a:r>
            <a:r>
              <a:rPr lang="fr-S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Bento </a:t>
            </a:r>
            <a:r>
              <a:rPr lang="fr-S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fr-SN" b="1" dirty="0">
                <a:cs typeface="Times New Roman" panose="02020603050405020304" pitchFamily="18" charset="0"/>
              </a:rPr>
              <a:t>Vanilla JavaScript</a:t>
            </a:r>
            <a:r>
              <a:rPr lang="fr-SN" dirty="0">
                <a:cs typeface="Times New Roman" panose="02020603050405020304" pitchFamily="18" charset="0"/>
              </a:rPr>
              <a:t> : 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Choix de la performance (code pur, sans </a:t>
            </a:r>
            <a:r>
              <a:rPr lang="fr-S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lourd) pour un chargement instantané.</a:t>
            </a:r>
          </a:p>
          <a:p>
            <a:endParaRPr lang="fr-S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5644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5075">
        <p14:flip dir="r"/>
      </p:transition>
    </mc:Choice>
    <mc:Fallback>
      <p:transition spd="slow" advTm="507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BED851-8580-F91B-76B8-972CE7F9C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SN" sz="4000" b="1" dirty="0">
                <a:solidFill>
                  <a:srgbClr val="D4AF37"/>
                </a:solidFill>
              </a:rPr>
              <a:t>    Structure de la Page d'Accueil (index.html)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70E542-B776-71B3-7174-EE1FDA915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SN" b="1" dirty="0"/>
              <a:t>                           </a:t>
            </a:r>
            <a:r>
              <a:rPr lang="fr-SN" dirty="0">
                <a:solidFill>
                  <a:srgbClr val="FF0000"/>
                </a:solidFill>
              </a:rPr>
              <a:t>Structure Sémantique : Page d'Accueil</a:t>
            </a:r>
            <a:endParaRPr lang="fr-SN" b="1" dirty="0">
              <a:solidFill>
                <a:srgbClr val="FF0000"/>
              </a:solidFill>
            </a:endParaRPr>
          </a:p>
          <a:p>
            <a:r>
              <a:rPr lang="fr-SN" b="1" dirty="0"/>
              <a:t>En-tête (</a:t>
            </a:r>
            <a:r>
              <a:rPr lang="fr-SN" b="1" dirty="0" err="1"/>
              <a:t>Navbar</a:t>
            </a:r>
            <a:r>
              <a:rPr lang="fr-SN" b="1" dirty="0"/>
              <a:t>)</a:t>
            </a:r>
            <a:r>
              <a:rPr lang="fr-SN" dirty="0"/>
              <a:t> : Barre de navigation fixe contenant le logo, les liens fluides et l'interrupteur de thème.</a:t>
            </a:r>
          </a:p>
          <a:p>
            <a:r>
              <a:rPr lang="fr-SN" b="1" dirty="0"/>
              <a:t>Section Hero</a:t>
            </a:r>
            <a:r>
              <a:rPr lang="fr-SN" dirty="0"/>
              <a:t> : Zone d'accroche avec une disposition asymétrique moderne.</a:t>
            </a:r>
          </a:p>
          <a:p>
            <a:r>
              <a:rPr lang="fr-SN" b="1" dirty="0"/>
              <a:t>Section Bento </a:t>
            </a:r>
            <a:r>
              <a:rPr lang="fr-SN" b="1" dirty="0" err="1"/>
              <a:t>Grid</a:t>
            </a:r>
            <a:r>
              <a:rPr lang="fr-SN" dirty="0"/>
              <a:t> : Bloc "Comment ça marche" optimisé en CSS </a:t>
            </a:r>
            <a:r>
              <a:rPr lang="fr-SN" dirty="0" err="1"/>
              <a:t>Grid</a:t>
            </a:r>
            <a:r>
              <a:rPr lang="fr-SN" dirty="0"/>
              <a:t>.</a:t>
            </a:r>
          </a:p>
          <a:p>
            <a:r>
              <a:rPr lang="fr-SN" b="1" dirty="0"/>
              <a:t>Section Freelances &amp; Témoignages</a:t>
            </a:r>
            <a:r>
              <a:rPr lang="fr-SN" dirty="0"/>
              <a:t> : Cartes de profils interactives et blocs de citations dynamiques.</a:t>
            </a:r>
          </a:p>
          <a:p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26914246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385">
        <p14:flip dir="r"/>
      </p:transition>
    </mc:Choice>
    <mc:Fallback>
      <p:transition spd="slow" advTm="38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FAFACF-2635-BFC5-D451-DBE20475D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SN" sz="2800" b="1" dirty="0">
                <a:solidFill>
                  <a:srgbClr val="D4AF37"/>
                </a:solidFill>
              </a:rPr>
              <a:t>       Diapositive : Structure de la Page Freelances (freelances.html)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104D14-8F21-5D58-C115-7F4E2DA75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                                         </a:t>
            </a:r>
            <a:r>
              <a:rPr lang="fr-SN" dirty="0">
                <a:solidFill>
                  <a:srgbClr val="FF0000"/>
                </a:solidFill>
              </a:rPr>
              <a:t>Annuaire des Freelances</a:t>
            </a:r>
          </a:p>
          <a:p>
            <a:r>
              <a:rPr lang="fr-SN" b="1" dirty="0">
                <a:cs typeface="Times New Roman" panose="02020603050405020304" pitchFamily="18" charset="0"/>
              </a:rPr>
              <a:t>Zone de Filtrage</a:t>
            </a:r>
            <a:r>
              <a:rPr lang="fr-SN" dirty="0">
                <a:cs typeface="Times New Roman" panose="02020603050405020304" pitchFamily="18" charset="0"/>
              </a:rPr>
              <a:t> : 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Boutons interactifs (</a:t>
            </a:r>
            <a:r>
              <a:rPr lang="fr-S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filter-btn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alignés en haut pour trier les profils par domaine d'expertise.</a:t>
            </a:r>
          </a:p>
          <a:p>
            <a:r>
              <a:rPr lang="fr-SN" b="1" dirty="0">
                <a:cs typeface="Times New Roman" panose="02020603050405020304" pitchFamily="18" charset="0"/>
              </a:rPr>
              <a:t>Grille de Profils</a:t>
            </a:r>
            <a:r>
              <a:rPr lang="fr-SN" dirty="0">
                <a:cs typeface="Times New Roman" panose="02020603050405020304" pitchFamily="18" charset="0"/>
              </a:rPr>
              <a:t> :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Cartes Bootstrap (freelance-</a:t>
            </a:r>
            <a:r>
              <a:rPr lang="fr-S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disposées de manière fluide et responsive.</a:t>
            </a:r>
          </a:p>
          <a:p>
            <a:r>
              <a:rPr lang="fr-SN" b="1" dirty="0">
                <a:cs typeface="Times New Roman" panose="02020603050405020304" pitchFamily="18" charset="0"/>
              </a:rPr>
              <a:t>Éléments par Carte</a:t>
            </a:r>
            <a:r>
              <a:rPr lang="fr-SN" dirty="0">
                <a:cs typeface="Times New Roman" panose="02020603050405020304" pitchFamily="18" charset="0"/>
              </a:rPr>
              <a:t> : 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Avatar en cercle (sans bug d'affichage), badges de compétences, tarif journalier et bouton "Voir le profil".</a:t>
            </a:r>
          </a:p>
          <a:p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2484644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570">
        <p14:flip dir="r"/>
      </p:transition>
    </mc:Choice>
    <mc:Fallback>
      <p:transition spd="slow" advTm="57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BB4DF9-C3A4-B93E-4022-BD4E39E60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SN" sz="3200" b="1" dirty="0">
                <a:solidFill>
                  <a:srgbClr val="D4AF37"/>
                </a:solidFill>
              </a:rPr>
              <a:t>      Focus sur le Modèle Économique &amp; Tarifs (tarif.html)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5D5B2D-F00B-C4AE-B8FF-AA53B132B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                                    </a:t>
            </a:r>
            <a:r>
              <a:rPr lang="fr-SN" dirty="0">
                <a:solidFill>
                  <a:srgbClr val="FF0000"/>
                </a:solidFill>
              </a:rPr>
              <a:t>Gestion des Tarifs &amp; Transparence</a:t>
            </a:r>
          </a:p>
          <a:p>
            <a:r>
              <a:rPr lang="fr-SN" b="1" dirty="0">
                <a:cs typeface="Times New Roman" panose="02020603050405020304" pitchFamily="18" charset="0"/>
              </a:rPr>
              <a:t>TJM (Tarif Journalier Moyen)</a:t>
            </a:r>
            <a:r>
              <a:rPr lang="fr-SN" dirty="0">
                <a:cs typeface="Times New Roman" panose="02020603050405020304" pitchFamily="18" charset="0"/>
              </a:rPr>
              <a:t> 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Affichage clair du prix par jour directement sur la carte de chaque freelance.</a:t>
            </a:r>
          </a:p>
          <a:p>
            <a:r>
              <a:rPr lang="fr-SN" b="1" dirty="0">
                <a:cs typeface="Times New Roman" panose="02020603050405020304" pitchFamily="18" charset="0"/>
              </a:rPr>
              <a:t>Badges Thématiques</a:t>
            </a:r>
            <a:r>
              <a:rPr lang="fr-SN" dirty="0">
                <a:cs typeface="Times New Roman" panose="02020603050405020304" pitchFamily="18" charset="0"/>
              </a:rPr>
              <a:t> 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Bordures de cartes colorées sous Bootstrap pour segmenter les niveaux d'expérience (Junior, Confirmé, Senior).</a:t>
            </a:r>
          </a:p>
          <a:p>
            <a:r>
              <a:rPr lang="fr-SN" b="1" dirty="0">
                <a:cs typeface="Times New Roman" panose="02020603050405020304" pitchFamily="18" charset="0"/>
              </a:rPr>
              <a:t>Simplicité de Gestion</a:t>
            </a:r>
            <a:r>
              <a:rPr lang="fr-SN" dirty="0">
                <a:cs typeface="Times New Roman" panose="02020603050405020304" pitchFamily="18" charset="0"/>
              </a:rPr>
              <a:t> 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Système de tarification direct sans frais cachés pour faciliter la prise de décision des entreprises.</a:t>
            </a:r>
          </a:p>
          <a:p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991167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F58377-A3B8-6218-B2A5-ABFAF796E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SN" sz="4000" b="1" dirty="0">
                <a:solidFill>
                  <a:srgbClr val="D4AF37"/>
                </a:solidFill>
              </a:rPr>
              <a:t>       Structure de la Page À Propos (about.html)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44772A-BE5F-7D57-EC69-CFE01FE52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                          </a:t>
            </a:r>
            <a:r>
              <a:rPr lang="fr-SN" dirty="0">
                <a:solidFill>
                  <a:srgbClr val="FF0000"/>
                </a:solidFill>
              </a:rPr>
              <a:t>Structure Sémantique : À Propos d'</a:t>
            </a:r>
            <a:r>
              <a:rPr lang="fr-SN" dirty="0" err="1">
                <a:solidFill>
                  <a:srgbClr val="FF0000"/>
                </a:solidFill>
              </a:rPr>
              <a:t>AfriTalent</a:t>
            </a:r>
            <a:endParaRPr lang="fr-SN" dirty="0">
              <a:solidFill>
                <a:srgbClr val="FF0000"/>
              </a:solidFill>
            </a:endParaRPr>
          </a:p>
          <a:p>
            <a:r>
              <a:rPr lang="fr-SN" b="1" dirty="0">
                <a:cs typeface="Times New Roman" panose="02020603050405020304" pitchFamily="18" charset="0"/>
              </a:rPr>
              <a:t>Section Mission &amp; Vision</a:t>
            </a:r>
            <a:r>
              <a:rPr lang="fr-SN" dirty="0">
                <a:cs typeface="Times New Roman" panose="02020603050405020304" pitchFamily="18" charset="0"/>
              </a:rPr>
              <a:t> : 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textuelle des valeurs de la plateforme (promotion de l'excellence numérique africaine).</a:t>
            </a:r>
          </a:p>
          <a:p>
            <a:r>
              <a:rPr lang="fr-SN" b="1" dirty="0">
                <a:cs typeface="Times New Roman" panose="02020603050405020304" pitchFamily="18" charset="0"/>
              </a:rPr>
              <a:t>Section Équipe / Fondateurs</a:t>
            </a:r>
            <a:r>
              <a:rPr lang="fr-SN" dirty="0">
                <a:cs typeface="Times New Roman" panose="02020603050405020304" pitchFamily="18" charset="0"/>
              </a:rPr>
              <a:t> :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Organisation en grille (</a:t>
            </a:r>
            <a:r>
              <a:rPr lang="fr-S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Flexbox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pour afficher les membres du projet de manière alignée.</a:t>
            </a:r>
          </a:p>
          <a:p>
            <a:r>
              <a:rPr lang="fr-SN" b="1" dirty="0">
                <a:cs typeface="Times New Roman" panose="02020603050405020304" pitchFamily="18" charset="0"/>
              </a:rPr>
              <a:t>Section Chiffres Clés</a:t>
            </a:r>
            <a:r>
              <a:rPr lang="fr-SN" dirty="0">
                <a:cs typeface="Times New Roman" panose="02020603050405020304" pitchFamily="18" charset="0"/>
              </a:rPr>
              <a:t> : 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Intégration des balises de statistiques qui exploitent l'animation de compteur JS.</a:t>
            </a:r>
          </a:p>
          <a:p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2157125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492">
        <p14:flip dir="r"/>
      </p:transition>
    </mc:Choice>
    <mc:Fallback>
      <p:transition spd="slow" advTm="492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D82318-7D9E-7A3F-E46D-BFAEA3D9F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SN" sz="4000" b="1" dirty="0">
                <a:solidFill>
                  <a:srgbClr val="D4AF37"/>
                </a:solidFill>
              </a:rPr>
              <a:t>   Structure de la Page Contact (contact.html)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F603C8-35A7-DF41-ED4A-D3A0D4FB9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                               </a:t>
            </a:r>
            <a:r>
              <a:rPr lang="fr-SN" dirty="0">
                <a:solidFill>
                  <a:srgbClr val="FF0000"/>
                </a:solidFill>
              </a:rPr>
              <a:t>Structure &amp; Composants : Page Contact</a:t>
            </a:r>
          </a:p>
          <a:p>
            <a:r>
              <a:rPr lang="fr-SN" b="1" dirty="0">
                <a:cs typeface="Times New Roman" panose="02020603050405020304" pitchFamily="18" charset="0"/>
              </a:rPr>
              <a:t>Formulaire d'envoi</a:t>
            </a:r>
            <a:r>
              <a:rPr lang="fr-SN" dirty="0">
                <a:cs typeface="Times New Roman" panose="02020603050405020304" pitchFamily="18" charset="0"/>
              </a:rPr>
              <a:t> :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Collecte structurée des informations (Nom, Prénom, Email, Message).</a:t>
            </a:r>
          </a:p>
          <a:p>
            <a:r>
              <a:rPr lang="fr-SN" b="1" dirty="0">
                <a:cs typeface="Times New Roman" panose="02020603050405020304" pitchFamily="18" charset="0"/>
              </a:rPr>
              <a:t>Composants Bootstrap</a:t>
            </a:r>
            <a:r>
              <a:rPr lang="fr-SN" dirty="0">
                <a:cs typeface="Times New Roman" panose="02020603050405020304" pitchFamily="18" charset="0"/>
              </a:rPr>
              <a:t> : 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Utilisation des classes natives (</a:t>
            </a:r>
            <a:r>
              <a:rPr lang="fr-S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-control, </a:t>
            </a:r>
            <a:r>
              <a:rPr lang="fr-S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is-invalid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pour un rendu graphique professionnel.</a:t>
            </a:r>
          </a:p>
          <a:p>
            <a:r>
              <a:rPr lang="fr-SN" b="1" dirty="0">
                <a:cs typeface="Times New Roman" panose="02020603050405020304" pitchFamily="18" charset="0"/>
              </a:rPr>
              <a:t>Retour Utilisateur</a:t>
            </a:r>
            <a:r>
              <a:rPr lang="fr-SN" dirty="0">
                <a:cs typeface="Times New Roman" panose="02020603050405020304" pitchFamily="18" charset="0"/>
              </a:rPr>
              <a:t> : 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 d'alerte verte (</a:t>
            </a:r>
            <a:r>
              <a:rPr lang="fr-S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successAlert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qui s'affiche dynamiquement après validation.</a:t>
            </a:r>
          </a:p>
          <a:p>
            <a:endParaRPr lang="fr-SN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0" indent="0">
              <a:buNone/>
            </a:pPr>
            <a:endParaRPr lang="fr-SN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226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660">
        <p14:flip dir="r"/>
      </p:transition>
    </mc:Choice>
    <mc:Fallback>
      <p:transition spd="slow" advTm="66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349DF0-D1BE-A11A-2EF8-64FE78BAF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SN" b="1" dirty="0">
                <a:solidFill>
                  <a:srgbClr val="D4AF37"/>
                </a:solidFill>
              </a:rPr>
              <a:t>          Le Design System (Le rôle du CSS)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7D09A4-69CD-959F-E3BB-98B6057F4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                                  </a:t>
            </a:r>
            <a:r>
              <a:rPr lang="fr-SN" dirty="0">
                <a:solidFill>
                  <a:srgbClr val="FF0000"/>
                </a:solidFill>
              </a:rPr>
              <a:t>Architecture CSS &amp; Identité Graphique</a:t>
            </a:r>
          </a:p>
          <a:p>
            <a:r>
              <a:rPr lang="fr-SN" b="1" dirty="0">
                <a:cs typeface="Times New Roman" panose="02020603050405020304" pitchFamily="18" charset="0"/>
              </a:rPr>
              <a:t>Variables CSS (:root)</a:t>
            </a:r>
            <a:r>
              <a:rPr lang="fr-SN" dirty="0">
                <a:cs typeface="Times New Roman" panose="02020603050405020304" pitchFamily="18" charset="0"/>
              </a:rPr>
              <a:t> : 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Centralisation des couleurs (Doré </a:t>
            </a:r>
            <a:r>
              <a:rPr lang="fr-S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AfriTalent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#d4af37, Noir profond #0d0d0d) et des typographies pour une cohérence parfaite.</a:t>
            </a:r>
          </a:p>
          <a:p>
            <a:r>
              <a:rPr lang="fr-SN" b="1" dirty="0">
                <a:cs typeface="Times New Roman" panose="02020603050405020304" pitchFamily="18" charset="0"/>
              </a:rPr>
              <a:t>Mises en Page Modernes</a:t>
            </a:r>
            <a:r>
              <a:rPr lang="fr-SN" dirty="0">
                <a:cs typeface="Times New Roman" panose="02020603050405020304" pitchFamily="18" charset="0"/>
              </a:rPr>
              <a:t> 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Utilisation avancée de </a:t>
            </a:r>
            <a:r>
              <a:rPr lang="fr-S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</a:t>
            </a:r>
            <a:r>
              <a:rPr lang="fr-S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pour la structure asymétrique (Bento </a:t>
            </a:r>
            <a:r>
              <a:rPr lang="fr-S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et de </a:t>
            </a:r>
            <a:r>
              <a:rPr lang="fr-S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Flexbox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pour l'alignement des composants.</a:t>
            </a:r>
          </a:p>
          <a:p>
            <a:r>
              <a:rPr lang="fr-SN" b="1" dirty="0">
                <a:cs typeface="Times New Roman" panose="02020603050405020304" pitchFamily="18" charset="0"/>
              </a:rPr>
              <a:t>Micro-interactions</a:t>
            </a:r>
            <a:r>
              <a:rPr lang="fr-SN" dirty="0">
                <a:cs typeface="Times New Roman" panose="02020603050405020304" pitchFamily="18" charset="0"/>
              </a:rPr>
              <a:t> :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Effets de survol animés (</a:t>
            </a:r>
            <a:r>
              <a:rPr lang="fr-S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Hover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sur les cartes et les témoignages pour rendre le site vivant et premium.</a:t>
            </a:r>
          </a:p>
          <a:p>
            <a:r>
              <a:rPr lang="fr-SN" b="1" dirty="0">
                <a:cs typeface="Times New Roman" panose="02020603050405020304" pitchFamily="18" charset="0"/>
              </a:rPr>
              <a:t>Responsive Design</a:t>
            </a:r>
            <a:r>
              <a:rPr lang="fr-SN" dirty="0">
                <a:cs typeface="Times New Roman" panose="02020603050405020304" pitchFamily="18" charset="0"/>
              </a:rPr>
              <a:t> 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Utilisation des </a:t>
            </a:r>
            <a:r>
              <a:rPr lang="fr-S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 </a:t>
            </a:r>
            <a:r>
              <a:rPr lang="fr-S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pour adapter l'affichage sur tous les écrans (ordinateurs, tablettes et smartphones).</a:t>
            </a:r>
          </a:p>
          <a:p>
            <a:pPr marL="0" indent="0">
              <a:buNone/>
            </a:pPr>
            <a:endParaRPr lang="fr-S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95910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0DF6B93-F3AC-40E0-8651-89582E5E8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027539-FDC1-4BD7-ABD3-2C9688465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153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46EFA5-E6C7-4867-8011-E729148E8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685800"/>
            <a:ext cx="6742953" cy="5486400"/>
          </a:xfrm>
          <a:prstGeom prst="rect">
            <a:avLst/>
          </a:pr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A980B86-9907-25FD-23F9-53A625E35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799" y="1158949"/>
            <a:ext cx="5461225" cy="1118087"/>
          </a:xfrm>
        </p:spPr>
        <p:txBody>
          <a:bodyPr anchor="b">
            <a:normAutofit/>
          </a:bodyPr>
          <a:lstStyle/>
          <a:p>
            <a:pPr algn="ctr"/>
            <a:r>
              <a:rPr lang="fr-SN"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   Logique Applicative (Le rôle du Java Script)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93E87E-2E19-6A9E-CCD5-3DDF6EE42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799" y="2563907"/>
            <a:ext cx="5461225" cy="297619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fr-F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                </a:t>
            </a:r>
            <a:r>
              <a:rPr lang="fr-S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Fonctionnalités Dynamiques en JavaScript</a:t>
            </a:r>
          </a:p>
          <a:p>
            <a:r>
              <a:rPr lang="fr-SN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Gestion du Thème (Sombre / Clair)</a:t>
            </a:r>
            <a:r>
              <a:rPr lang="fr-S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 : </a:t>
            </a:r>
            <a:r>
              <a:rPr lang="fr-S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Changement global d'atmosphère graphique et sauvegarde du choix de l'utilisateur via le </a:t>
            </a:r>
            <a:r>
              <a:rPr lang="fr-S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fr-S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fr-SN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Filtrage des Profils</a:t>
            </a:r>
            <a:r>
              <a:rPr lang="fr-S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 :</a:t>
            </a:r>
            <a:r>
              <a:rPr lang="fr-S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Algorithme triant instantanément les freelances par catégorie au clic sur les boutons.</a:t>
            </a:r>
          </a:p>
          <a:p>
            <a:r>
              <a:rPr lang="fr-SN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Intersection Observer</a:t>
            </a:r>
            <a:r>
              <a:rPr lang="fr-S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 :</a:t>
            </a:r>
            <a:r>
              <a:rPr lang="fr-S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Déclenchement automatique des compteurs de statistiques et des effets de fondu (</a:t>
            </a:r>
            <a:r>
              <a:rPr lang="fr-SN" sz="14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Fade-In</a:t>
            </a:r>
            <a:r>
              <a:rPr lang="fr-S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lors du défilement.</a:t>
            </a:r>
          </a:p>
          <a:p>
            <a:r>
              <a:rPr lang="fr-SN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Contrôle du Formulaire</a:t>
            </a:r>
            <a:r>
              <a:rPr lang="fr-S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 : </a:t>
            </a:r>
            <a:r>
              <a:rPr lang="fr-S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Script de vérification en temps réel pour bloquer les saisies incorrectes.</a:t>
            </a:r>
          </a:p>
          <a:p>
            <a:endParaRPr lang="fr-S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3651853-FA80-156F-96F4-B2FF47D80B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54" r="11344" b="1"/>
          <a:stretch>
            <a:fillRect/>
          </a:stretch>
        </p:blipFill>
        <p:spPr>
          <a:xfrm>
            <a:off x="8779933" y="685798"/>
            <a:ext cx="2726267" cy="242146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34085B4-E431-66CC-9372-774909615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7" r="-1" b="-1"/>
          <a:stretch>
            <a:fillRect/>
          </a:stretch>
        </p:blipFill>
        <p:spPr>
          <a:xfrm>
            <a:off x="8779933" y="3750732"/>
            <a:ext cx="2726267" cy="242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653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270">
        <p14:flip dir="r"/>
      </p:transition>
    </mc:Choice>
    <mc:Fallback>
      <p:transition spd="slow" advTm="227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87BC89-FE6F-2E37-2933-B9D79DCDD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SN" b="1" dirty="0">
                <a:solidFill>
                  <a:srgbClr val="D4AF37"/>
                </a:solidFill>
              </a:rPr>
              <a:t>                    Conclusion &amp; Perspectives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920FC0-50B6-191A-BCFF-9A753AB0E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4300"/>
            <a:ext cx="10515600" cy="52069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                                          </a:t>
            </a:r>
            <a:r>
              <a:rPr lang="fr-SN" dirty="0">
                <a:solidFill>
                  <a:srgbClr val="FF0000"/>
                </a:solidFill>
              </a:rPr>
              <a:t>Conclusion &amp; Perspectives</a:t>
            </a:r>
          </a:p>
          <a:p>
            <a:r>
              <a:rPr lang="fr-SN" b="1" dirty="0">
                <a:cs typeface="Times New Roman" panose="02020603050405020304" pitchFamily="18" charset="0"/>
              </a:rPr>
              <a:t>Compétences acquises</a:t>
            </a:r>
            <a:r>
              <a:rPr lang="fr-SN" dirty="0">
                <a:cs typeface="Times New Roman" panose="02020603050405020304" pitchFamily="18" charset="0"/>
              </a:rPr>
              <a:t> 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Maîtrise de l'intégration responsive (</a:t>
            </a:r>
            <a:r>
              <a:rPr lang="fr-S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5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de la gestion d'un </a:t>
            </a:r>
            <a:r>
              <a:rPr lang="fr-S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System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CSS, et manipulation dynamique du DOM en JavaScript pur.</a:t>
            </a:r>
          </a:p>
          <a:p>
            <a:r>
              <a:rPr lang="fr-SN" b="1" dirty="0">
                <a:cs typeface="Times New Roman" panose="02020603050405020304" pitchFamily="18" charset="0"/>
              </a:rPr>
              <a:t>Rigueur technique</a:t>
            </a:r>
            <a:r>
              <a:rPr lang="fr-SN" dirty="0">
                <a:cs typeface="Times New Roman" panose="02020603050405020304" pitchFamily="18" charset="0"/>
              </a:rPr>
              <a:t> 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Développement d'un code propre, structuré, modulaire et optimisé pour le temps de chargement (</a:t>
            </a:r>
            <a:r>
              <a:rPr lang="fr-S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sans </a:t>
            </a:r>
            <a:r>
              <a:rPr lang="fr-S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frameworks</a:t>
            </a:r>
            <a:r>
              <a:rPr lang="fr-S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lourds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fr-SN" b="1" dirty="0">
                <a:cs typeface="Times New Roman" panose="02020603050405020304" pitchFamily="18" charset="0"/>
              </a:rPr>
              <a:t>Évolutions futures (Perspectives L2/L3)</a:t>
            </a:r>
            <a:r>
              <a:rPr lang="fr-SN" dirty="0">
                <a:cs typeface="Times New Roman" panose="02020603050405020304" pitchFamily="18" charset="0"/>
              </a:rPr>
              <a:t> :</a:t>
            </a:r>
          </a:p>
          <a:p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Connexion à une base de données relationnelle (</a:t>
            </a:r>
            <a:r>
              <a:rPr lang="fr-S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MySQL/PostgreSQL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pour rendre l'annuaire dynamique.</a:t>
            </a:r>
          </a:p>
          <a:p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Création d'un espace de connexion sécurisé (Authentification PHP/Node.js) pour que les freelances puissent modifier leur profil et leurs tarifs en direct.</a:t>
            </a:r>
          </a:p>
          <a:p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1253315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858</Words>
  <Application>Microsoft Office PowerPoint</Application>
  <PresentationFormat>Grand écran</PresentationFormat>
  <Paragraphs>62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Georgia Pro Semibold</vt:lpstr>
      <vt:lpstr>Times New Roman</vt:lpstr>
      <vt:lpstr>Thème Office</vt:lpstr>
      <vt:lpstr>Projet de Fin d'Année — AfriTalent</vt:lpstr>
      <vt:lpstr>           Présentation &amp; Contexte du Projet</vt:lpstr>
      <vt:lpstr> Écosystème Technique (Les Technologies)</vt:lpstr>
      <vt:lpstr>    Structure de la Page d'Accueil (index.html)</vt:lpstr>
      <vt:lpstr>       Diapositive : Structure de la Page Freelances (freelances.html)</vt:lpstr>
      <vt:lpstr>      Focus sur le Modèle Économique &amp; Tarifs (tarif.html)</vt:lpstr>
      <vt:lpstr>       Structure de la Page À Propos (about.html)</vt:lpstr>
      <vt:lpstr>   Structure de la Page Contact (contact.html)</vt:lpstr>
      <vt:lpstr>          Le Design System (Le rôle du CSS)</vt:lpstr>
      <vt:lpstr>   Logique Applicative (Le rôle du Java Script)</vt:lpstr>
      <vt:lpstr>                    Conclusion &amp; Perspectives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Ibrahima Welle</dc:creator>
  <cp:lastModifiedBy>Ibrahima Welle</cp:lastModifiedBy>
  <cp:revision>1</cp:revision>
  <dcterms:created xsi:type="dcterms:W3CDTF">2026-06-23T22:54:21Z</dcterms:created>
  <dcterms:modified xsi:type="dcterms:W3CDTF">2026-06-23T23:28:36Z</dcterms:modified>
</cp:coreProperties>
</file>